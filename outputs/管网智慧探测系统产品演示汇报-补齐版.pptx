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70" r:id="rId15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rcRect t="5000" b="50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31C">
              <a:alpha val="80000"/>
            </a:srgbClr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990600"/>
            <a:ext cx="7429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4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管网智慧探测系统</a:t>
            </a:r>
            <a:endParaRPr sz="4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23900" y="2457450"/>
            <a:ext cx="6762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75" b="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面向地下管线探测业务的管理、设备、作业、成果协同前端原型</a:t>
            </a:r>
            <a:endParaRPr sz="1575" b="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742950" y="3429000"/>
            <a:ext cx="4286250" cy="1905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 w="0">
            <a:solidFill>
              <a:srgbClr val="22C55E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514350" y="38100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PRODUCT POSITIONING</a:t>
            </a:r>
            <a:endParaRPr sz="9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14350" y="62865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32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当前产品定位：把管线探测从页面入口推进到作业闭环</a:t>
            </a:r>
            <a:endParaRPr sz="2325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239500" y="6477000"/>
            <a:ext cx="4381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05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23900" y="1476375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系统定位</a:t>
            </a:r>
            <a:endParaRPr sz="135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23900" y="1828800"/>
            <a:ext cx="447675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8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面向地下管线探测业务的管理与作业协同平台，当前已形成从项目建档、设备接入、现场勘探、数据台账、模型展示到报告输出的前端原型闭环。</a:t>
            </a:r>
            <a:endParaRPr sz="18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742950" y="34004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971550" y="3333750"/>
            <a:ext cx="4057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管理侧</a:t>
            </a:r>
            <a:endParaRPr sz="13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971550" y="3571875"/>
            <a:ext cx="40576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项目、业主、用户、组织、角色与字典等基础治理。</a:t>
            </a:r>
            <a:endParaRPr sz="105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742950" y="41243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 w="0">
            <a:solidFill>
              <a:srgbClr val="22C55E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971550" y="4057650"/>
            <a:ext cx="4057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作业侧</a:t>
            </a:r>
            <a:endParaRPr sz="13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971550" y="4295775"/>
            <a:ext cx="40576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项目级设备控制台承接探测规划、地图、视频与回传。</a:t>
            </a:r>
            <a:endParaRPr sz="105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742950" y="48482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971550" y="4781550"/>
            <a:ext cx="4057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成果侧</a:t>
            </a:r>
            <a:endParaRPr sz="13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971550" y="5019675"/>
            <a:ext cx="40576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勘探成果、地下管线数据、模型与报告逐步沉淀。</a:t>
            </a:r>
            <a:endParaRPr sz="105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4" name="图片 33"/>
          <p:cNvPicPr>
            <a:picLocks noChangeAspect="1"/>
          </p:cNvPicPr>
          <p:nvPr/>
        </p:nvPicPr>
        <p:blipFill>
          <a:blip r:embed="rId1"/>
          <a:srcRect l="2724" r="2724"/>
          <a:stretch>
            <a:fillRect/>
          </a:stretch>
        </p:blipFill>
        <p:spPr>
          <a:xfrm>
            <a:off x="5810250" y="1428750"/>
            <a:ext cx="5619750" cy="3714750"/>
          </a:xfrm>
          <a:prstGeom prst="roundRect">
            <a:avLst/>
          </a:prstGeom>
        </p:spPr>
      </p:pic>
      <p:sp>
        <p:nvSpPr>
          <p:cNvPr id="17" name="矩形 16"/>
          <p:cNvSpPr>
            <a:spLocks noGrp="1"/>
          </p:cNvSpPr>
          <p:nvPr/>
        </p:nvSpPr>
        <p:spPr>
          <a:xfrm>
            <a:off x="5829300" y="5334000"/>
            <a:ext cx="533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项目管理入口已经承载统计、筛选、列表和详情跳转。</a:t>
            </a:r>
            <a:endParaRPr sz="105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514350" y="38100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FUNCTION MAP</a:t>
            </a:r>
            <a:endParaRPr sz="9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14350" y="62865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32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功能全景：一级模块清晰，项目工作台已形成主干</a:t>
            </a:r>
            <a:endParaRPr sz="2325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239500" y="6477000"/>
            <a:ext cx="4381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05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628650" y="1428750"/>
            <a:ext cx="1866900" cy="1123950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9525">
            <a:solidFill>
              <a:srgbClr val="DDE7EE"/>
            </a:solidFill>
            <a:prstDash val="solid"/>
          </a:ln>
        </p:spPr>
      </p:sp>
      <p:sp>
        <p:nvSpPr>
          <p:cNvPr id="7" name="圆角矩形 6"/>
          <p:cNvSpPr>
            <a:spLocks noGrp="1"/>
          </p:cNvSpPr>
          <p:nvPr/>
        </p:nvSpPr>
        <p:spPr>
          <a:xfrm>
            <a:off x="628650" y="1428750"/>
            <a:ext cx="1866900" cy="762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800100" y="169545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7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项目管理</a:t>
            </a:r>
            <a:endParaRPr sz="1575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00100" y="2038350"/>
            <a:ext cx="142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7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建档、筛选、生命周期入口</a:t>
            </a:r>
            <a:endParaRPr sz="975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2895600" y="1428750"/>
            <a:ext cx="1866900" cy="1123950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9525">
            <a:solidFill>
              <a:srgbClr val="DDE7EE"/>
            </a:solidFill>
            <a:prstDash val="solid"/>
          </a:ln>
        </p:spPr>
      </p:sp>
      <p:sp>
        <p:nvSpPr>
          <p:cNvPr id="11" name="圆角矩形 10"/>
          <p:cNvSpPr>
            <a:spLocks noGrp="1"/>
          </p:cNvSpPr>
          <p:nvPr/>
        </p:nvSpPr>
        <p:spPr>
          <a:xfrm>
            <a:off x="2895600" y="1428750"/>
            <a:ext cx="1866900" cy="76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3067050" y="169545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7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业主管理</a:t>
            </a:r>
            <a:endParaRPr sz="1575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067050" y="2038350"/>
            <a:ext cx="142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7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业主资料、合作项目、启停状态</a:t>
            </a:r>
            <a:endParaRPr sz="975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5162550" y="1428750"/>
            <a:ext cx="1866900" cy="1123950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9525">
            <a:solidFill>
              <a:srgbClr val="DDE7EE"/>
            </a:solidFill>
            <a:prstDash val="solid"/>
          </a:ln>
        </p:spPr>
      </p:sp>
      <p:sp>
        <p:nvSpPr>
          <p:cNvPr id="15" name="圆角矩形 14"/>
          <p:cNvSpPr>
            <a:spLocks noGrp="1"/>
          </p:cNvSpPr>
          <p:nvPr/>
        </p:nvSpPr>
        <p:spPr>
          <a:xfrm>
            <a:off x="5162550" y="1428750"/>
            <a:ext cx="1866900" cy="7620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 w="0">
            <a:solidFill>
              <a:srgbClr val="22C55E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5334000" y="169545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7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控制台</a:t>
            </a:r>
            <a:endParaRPr sz="1575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5334000" y="2038350"/>
            <a:ext cx="142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7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设备接入、绑定、换绑、回传</a:t>
            </a:r>
            <a:endParaRPr sz="975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7429500" y="1428750"/>
            <a:ext cx="1866900" cy="1123950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9525">
            <a:solidFill>
              <a:srgbClr val="DDE7EE"/>
            </a:solidFill>
            <a:prstDash val="solid"/>
          </a:ln>
        </p:spPr>
      </p:sp>
      <p:sp>
        <p:nvSpPr>
          <p:cNvPr id="19" name="圆角矩形 18"/>
          <p:cNvSpPr>
            <a:spLocks noGrp="1"/>
          </p:cNvSpPr>
          <p:nvPr/>
        </p:nvSpPr>
        <p:spPr>
          <a:xfrm>
            <a:off x="7429500" y="1428750"/>
            <a:ext cx="1866900" cy="762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7600950" y="169545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7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知识中心</a:t>
            </a:r>
            <a:endParaRPr sz="1575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7600950" y="2038350"/>
            <a:ext cx="142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7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文档、指南、FAQ、案例库入口</a:t>
            </a:r>
            <a:endParaRPr sz="975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9696450" y="1428750"/>
            <a:ext cx="1866900" cy="1123950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9525">
            <a:solidFill>
              <a:srgbClr val="DDE7EE"/>
            </a:solidFill>
            <a:prstDash val="solid"/>
          </a:ln>
        </p:spPr>
      </p:sp>
      <p:sp>
        <p:nvSpPr>
          <p:cNvPr id="23" name="圆角矩形 22"/>
          <p:cNvSpPr>
            <a:spLocks noGrp="1"/>
          </p:cNvSpPr>
          <p:nvPr/>
        </p:nvSpPr>
        <p:spPr>
          <a:xfrm>
            <a:off x="9696450" y="1428750"/>
            <a:ext cx="1866900" cy="7620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 w="0">
            <a:solidFill>
              <a:srgbClr val="8B5CF6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9867900" y="169545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7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系统设置</a:t>
            </a:r>
            <a:endParaRPr sz="1575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9867900" y="2038350"/>
            <a:ext cx="142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7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字典、用户、组织、角色</a:t>
            </a:r>
            <a:endParaRPr sz="975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704850" y="3238500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9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项目工作台</a:t>
            </a:r>
            <a:endParaRPr sz="19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圆角矩形 26"/>
          <p:cNvSpPr>
            <a:spLocks noGrp="1"/>
          </p:cNvSpPr>
          <p:nvPr/>
        </p:nvSpPr>
        <p:spPr>
          <a:xfrm>
            <a:off x="704850" y="3857625"/>
            <a:ext cx="3048000" cy="628650"/>
          </a:xfrm>
          <a:prstGeom prst="roundRect">
            <a:avLst>
              <a:gd name="adj" fmla="val 18182"/>
            </a:avLst>
          </a:prstGeom>
          <a:solidFill>
            <a:srgbClr val="ECFDF5"/>
          </a:solidFill>
          <a:ln w="9525">
            <a:solidFill>
              <a:srgbClr val="BCEBD1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876300" y="3971925"/>
            <a:ext cx="8191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425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</a:t>
            </a:r>
            <a:endParaRPr sz="1425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1809750" y="4019550"/>
            <a:ext cx="152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基础信息与团队</a:t>
            </a:r>
            <a:endParaRPr sz="1125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圆角矩形 29"/>
          <p:cNvSpPr>
            <a:spLocks noGrp="1"/>
          </p:cNvSpPr>
          <p:nvPr/>
        </p:nvSpPr>
        <p:spPr>
          <a:xfrm>
            <a:off x="4229100" y="3857625"/>
            <a:ext cx="3048000" cy="628650"/>
          </a:xfrm>
          <a:prstGeom prst="roundRect">
            <a:avLst>
              <a:gd name="adj" fmla="val 18182"/>
            </a:avLst>
          </a:prstGeom>
          <a:solidFill>
            <a:srgbClr val="ECFDF5"/>
          </a:solidFill>
          <a:ln w="9525">
            <a:solidFill>
              <a:srgbClr val="BCEBD1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4400550" y="3971925"/>
            <a:ext cx="8191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425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控制台</a:t>
            </a:r>
            <a:endParaRPr sz="1425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5334000" y="4019550"/>
            <a:ext cx="152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设备作业与回传</a:t>
            </a:r>
            <a:endParaRPr sz="1125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圆角矩形 32"/>
          <p:cNvSpPr>
            <a:spLocks noGrp="1"/>
          </p:cNvSpPr>
          <p:nvPr/>
        </p:nvSpPr>
        <p:spPr>
          <a:xfrm>
            <a:off x="7753350" y="3857625"/>
            <a:ext cx="3048000" cy="628650"/>
          </a:xfrm>
          <a:prstGeom prst="roundRect">
            <a:avLst>
              <a:gd name="adj" fmla="val 18182"/>
            </a:avLst>
          </a:prstGeom>
          <a:solidFill>
            <a:srgbClr val="ECFDF5"/>
          </a:solidFill>
          <a:ln w="9525">
            <a:solidFill>
              <a:srgbClr val="BCEBD1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7924800" y="3971925"/>
            <a:ext cx="8191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425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勘探</a:t>
            </a:r>
            <a:endParaRPr sz="1425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8858250" y="4019550"/>
            <a:ext cx="152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地图/问题/扫描</a:t>
            </a:r>
            <a:endParaRPr sz="1125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圆角矩形 35"/>
          <p:cNvSpPr>
            <a:spLocks noGrp="1"/>
          </p:cNvSpPr>
          <p:nvPr/>
        </p:nvSpPr>
        <p:spPr>
          <a:xfrm>
            <a:off x="704850" y="4733925"/>
            <a:ext cx="3048000" cy="628650"/>
          </a:xfrm>
          <a:prstGeom prst="roundRect">
            <a:avLst>
              <a:gd name="adj" fmla="val 18182"/>
            </a:avLst>
          </a:prstGeom>
          <a:solidFill>
            <a:srgbClr val="ECFDF5"/>
          </a:solidFill>
          <a:ln w="9525">
            <a:solidFill>
              <a:srgbClr val="BCEBD1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876300" y="4848225"/>
            <a:ext cx="8191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425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</a:t>
            </a:r>
            <a:endParaRPr sz="1425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1809750" y="4895850"/>
            <a:ext cx="152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管线成果台账</a:t>
            </a:r>
            <a:endParaRPr sz="1125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圆角矩形 38"/>
          <p:cNvSpPr>
            <a:spLocks noGrp="1"/>
          </p:cNvSpPr>
          <p:nvPr/>
        </p:nvSpPr>
        <p:spPr>
          <a:xfrm>
            <a:off x="4229100" y="4733925"/>
            <a:ext cx="3048000" cy="628650"/>
          </a:xfrm>
          <a:prstGeom prst="roundRect">
            <a:avLst>
              <a:gd name="adj" fmla="val 18182"/>
            </a:avLst>
          </a:prstGeom>
          <a:solidFill>
            <a:srgbClr val="ECFDF5"/>
          </a:solidFill>
          <a:ln w="9525">
            <a:solidFill>
              <a:srgbClr val="BCEBD1"/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4400550" y="4848225"/>
            <a:ext cx="8191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425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</a:t>
            </a:r>
            <a:endParaRPr sz="1425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5334000" y="4895850"/>
            <a:ext cx="152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空间可视化</a:t>
            </a:r>
            <a:endParaRPr sz="1125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圆角矩形 41"/>
          <p:cNvSpPr>
            <a:spLocks noGrp="1"/>
          </p:cNvSpPr>
          <p:nvPr/>
        </p:nvSpPr>
        <p:spPr>
          <a:xfrm>
            <a:off x="7753350" y="4733925"/>
            <a:ext cx="3048000" cy="628650"/>
          </a:xfrm>
          <a:prstGeom prst="roundRect">
            <a:avLst>
              <a:gd name="adj" fmla="val 18182"/>
            </a:avLst>
          </a:prstGeom>
          <a:solidFill>
            <a:srgbClr val="ECFDF5"/>
          </a:solidFill>
          <a:ln w="9525">
            <a:solidFill>
              <a:srgbClr val="BCEBD1"/>
            </a:solidFill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7924800" y="4848225"/>
            <a:ext cx="8191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425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报告</a:t>
            </a:r>
            <a:endParaRPr sz="1425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8858250" y="4895850"/>
            <a:ext cx="152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成果汇编输出</a:t>
            </a:r>
            <a:endParaRPr sz="1125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514350" y="38100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PROJECT MANAGEMENT</a:t>
            </a:r>
            <a:endParaRPr sz="9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14350" y="62865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32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项目管理：让项目状态、责任和入口集中可见</a:t>
            </a:r>
            <a:endParaRPr sz="2325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239500" y="6477000"/>
            <a:ext cx="4381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05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1"/>
          <a:srcRect t="3158" b="3158"/>
          <a:stretch>
            <a:fillRect/>
          </a:stretch>
        </p:blipFill>
        <p:spPr>
          <a:xfrm>
            <a:off x="514350" y="1333500"/>
            <a:ext cx="7239000" cy="4238625"/>
          </a:xfrm>
          <a:prstGeom prst="roundRect">
            <a:avLst/>
          </a:prstGeom>
        </p:spPr>
      </p:pic>
      <p:sp>
        <p:nvSpPr>
          <p:cNvPr id="6" name="圆角矩形 5"/>
          <p:cNvSpPr>
            <a:spLocks noGrp="1"/>
          </p:cNvSpPr>
          <p:nvPr/>
        </p:nvSpPr>
        <p:spPr>
          <a:xfrm>
            <a:off x="8191500" y="1476375"/>
            <a:ext cx="1619250" cy="1123950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9525">
            <a:solidFill>
              <a:srgbClr val="DCEFEA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8362950" y="1647825"/>
            <a:ext cx="1238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315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</a:t>
            </a:r>
            <a:endParaRPr sz="315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362950" y="2162175"/>
            <a:ext cx="1257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示例项目覆盖多类状态</a:t>
            </a:r>
            <a:endParaRPr sz="105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10001250" y="1476375"/>
            <a:ext cx="1619250" cy="1123950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9525">
            <a:solidFill>
              <a:srgbClr val="DCEFEA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10172700" y="1647825"/>
            <a:ext cx="1238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31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3+</a:t>
            </a:r>
            <a:endParaRPr sz="315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0172700" y="2162175"/>
            <a:ext cx="1257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筛选维度：场景/状态/日期</a:t>
            </a:r>
            <a:endParaRPr sz="105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8210550" y="3114675"/>
            <a:ext cx="95250" cy="9525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 w="0">
            <a:solidFill>
              <a:srgbClr val="22C55E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8439150" y="3048000"/>
            <a:ext cx="2914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统一项目台账</a:t>
            </a:r>
            <a:endParaRPr sz="13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8439150" y="3286125"/>
            <a:ext cx="29146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项目编号、名称、场景类型、业主、计划日期、状态和操作入口在一张表中管理。</a:t>
            </a:r>
            <a:endParaRPr sz="105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8210550" y="38576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 w="0">
            <a:solidFill>
              <a:srgbClr val="22C55E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8439150" y="3790950"/>
            <a:ext cx="2914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支撑管理决策</a:t>
            </a:r>
            <a:endParaRPr sz="13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439150" y="4029075"/>
            <a:ext cx="29146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统计卡片与筛选能力让领导快速看到项目规模、待处理事项和执行状态。</a:t>
            </a:r>
            <a:endParaRPr sz="105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8210550" y="4600575"/>
            <a:ext cx="95250" cy="9525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 w="0">
            <a:solidFill>
              <a:srgbClr val="22C55E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8439150" y="4533900"/>
            <a:ext cx="2914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承接后续工作台</a:t>
            </a:r>
            <a:endParaRPr sz="13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8439150" y="4772025"/>
            <a:ext cx="29146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项目详情入口连接控制台、勘探、数据、模型、报告，减少跨系统查找。</a:t>
            </a:r>
            <a:endParaRPr sz="105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514350" y="38100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FIELD OPERATION</a:t>
            </a:r>
            <a:endParaRPr sz="9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14350" y="62865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32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项目级控制台：把设备、规划、地图和视频放到同一作业视图</a:t>
            </a:r>
            <a:endParaRPr sz="2325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239500" y="6477000"/>
            <a:ext cx="4381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105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1"/>
          <a:srcRect t="2000" b="2000"/>
          <a:stretch>
            <a:fillRect/>
          </a:stretch>
        </p:blipFill>
        <p:spPr>
          <a:xfrm>
            <a:off x="514350" y="1295400"/>
            <a:ext cx="7620000" cy="4572000"/>
          </a:xfrm>
          <a:prstGeom prst="roundRect">
            <a:avLst/>
          </a:prstGeom>
        </p:spPr>
      </p:pic>
      <p:sp>
        <p:nvSpPr>
          <p:cNvPr id="6" name="圆角矩形 5"/>
          <p:cNvSpPr>
            <a:spLocks noGrp="1"/>
          </p:cNvSpPr>
          <p:nvPr/>
        </p:nvSpPr>
        <p:spPr>
          <a:xfrm>
            <a:off x="8477250" y="14954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 w="0">
            <a:solidFill>
              <a:srgbClr val="22C55E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8705850" y="1428750"/>
            <a:ext cx="2914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已绑定设备可视化</a:t>
            </a:r>
            <a:endParaRPr sz="13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705850" y="1666875"/>
            <a:ext cx="29146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显示设备编号、连接状态、电量、车身角度、当前位置和回传队列。</a:t>
            </a:r>
            <a:endParaRPr sz="105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8477250" y="22955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 w="0">
            <a:solidFill>
              <a:srgbClr val="22C55E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8705850" y="2228850"/>
            <a:ext cx="2914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作业规划前置</a:t>
            </a:r>
            <a:endParaRPr sz="13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705850" y="2466975"/>
            <a:ext cx="29146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测线编号、坐标系、探测长度、宽度、测点数量等高频字段在首屏可操作。</a:t>
            </a:r>
            <a:endParaRPr sz="105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8477250" y="30956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 w="0">
            <a:solidFill>
              <a:srgbClr val="22C55E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8705850" y="3028950"/>
            <a:ext cx="2914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地图 + 视频 + 指令</a:t>
            </a:r>
            <a:endParaRPr sz="13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8705850" y="3267075"/>
            <a:ext cx="29146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实时地图定位区承载设备点位、视频直播面板、指令状态和同步动作。</a:t>
            </a:r>
            <a:endParaRPr sz="105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8477250" y="38957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 w="0">
            <a:solidFill>
              <a:srgbClr val="22C55E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8705850" y="3829050"/>
            <a:ext cx="2914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协议追溯基础</a:t>
            </a:r>
            <a:endParaRPr sz="13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705850" y="4067175"/>
            <a:ext cx="29146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需求已明确 MQTT 指令、ack、messageId、responseTo 与回传台账规则。</a:t>
            </a:r>
            <a:endParaRPr sz="105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514350" y="38100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EXPLORATION</a:t>
            </a:r>
            <a:endParaRPr sz="9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14350" y="62865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32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勘探作业：地图轨迹与问题台账支撑现场闭环</a:t>
            </a:r>
            <a:endParaRPr sz="2325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239500" y="6477000"/>
            <a:ext cx="4381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</a:t>
            </a:r>
            <a:endParaRPr sz="105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14350" y="1295400"/>
            <a:ext cx="6858000" cy="4286250"/>
          </a:xfrm>
          <a:prstGeom prst="roundRect">
            <a:avLst/>
          </a:prstGeom>
        </p:spPr>
      </p:pic>
      <p:sp>
        <p:nvSpPr>
          <p:cNvPr id="6" name="圆角矩形 5"/>
          <p:cNvSpPr>
            <a:spLocks noGrp="1"/>
          </p:cNvSpPr>
          <p:nvPr/>
        </p:nvSpPr>
        <p:spPr>
          <a:xfrm>
            <a:off x="7810500" y="1428750"/>
            <a:ext cx="3333750" cy="1095375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9525">
            <a:solidFill>
              <a:srgbClr val="DDE7EE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8058150" y="1619250"/>
            <a:ext cx="133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可见能力</a:t>
            </a:r>
            <a:endParaRPr sz="135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058150" y="1952625"/>
            <a:ext cx="27241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探地雷达、管线探测仪、人工勘探等入口已出现在工作台，地图区展示管点/管线与现场人员。</a:t>
            </a:r>
            <a:endParaRPr sz="1125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7810500" y="2724150"/>
            <a:ext cx="3333750" cy="1695450"/>
          </a:xfrm>
          <a:prstGeom prst="roundRect">
            <a:avLst>
              <a:gd name="adj" fmla="val 6742"/>
            </a:avLst>
          </a:prstGeom>
          <a:solidFill>
            <a:srgbClr val="FFF7ED"/>
          </a:solidFill>
          <a:ln w="9525">
            <a:solidFill>
              <a:srgbClr val="FED7AA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8058150" y="2933700"/>
            <a:ext cx="133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C241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C241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闭环价值</a:t>
            </a:r>
            <a:endParaRPr sz="1350" b="1">
              <a:solidFill>
                <a:srgbClr val="C2410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058150" y="3276600"/>
            <a:ext cx="27241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问题台账把管井封闭、埋深超限、位置偏移等现场问题与影像资料、处理状态绑定，减少口头传递和返工。</a:t>
            </a:r>
            <a:endParaRPr sz="120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810500" y="4819650"/>
            <a:ext cx="3333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后续重点：把雷达扫描结果接入、准确性研判、成果导入规则与正式数据模型打通。</a:t>
            </a:r>
            <a:endParaRPr sz="12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514350" y="38100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DATA LEDGER</a:t>
            </a:r>
            <a:endParaRPr sz="9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14350" y="62865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32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数据台账：将现场成果沉淀为可筛选、可编辑、可导出的资产</a:t>
            </a:r>
            <a:endParaRPr sz="2325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239500" y="6477000"/>
            <a:ext cx="4381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</a:t>
            </a:r>
            <a:endParaRPr sz="105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1"/>
          <a:srcRect t="3924" b="3924"/>
          <a:stretch>
            <a:fillRect/>
          </a:stretch>
        </p:blipFill>
        <p:spPr>
          <a:xfrm>
            <a:off x="514350" y="1285875"/>
            <a:ext cx="7524750" cy="4333875"/>
          </a:xfrm>
          <a:prstGeom prst="roundRect">
            <a:avLst/>
          </a:prstGeom>
        </p:spPr>
      </p:pic>
      <p:sp>
        <p:nvSpPr>
          <p:cNvPr id="6" name="圆角矩形 5"/>
          <p:cNvSpPr>
            <a:spLocks noGrp="1"/>
          </p:cNvSpPr>
          <p:nvPr/>
        </p:nvSpPr>
        <p:spPr>
          <a:xfrm>
            <a:off x="8382000" y="1428750"/>
            <a:ext cx="1619250" cy="1123950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9525">
            <a:solidFill>
              <a:srgbClr val="DCEFEA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8553450" y="1600200"/>
            <a:ext cx="1238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315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300</a:t>
            </a:r>
            <a:endParaRPr sz="315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553450" y="2114550"/>
            <a:ext cx="1257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页面可见管线成果记录</a:t>
            </a:r>
            <a:endParaRPr sz="105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10191750" y="1428750"/>
            <a:ext cx="1619250" cy="1123950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9525">
            <a:solidFill>
              <a:srgbClr val="DCEFEA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10363200" y="1600200"/>
            <a:ext cx="1238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31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endParaRPr sz="315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0363200" y="2114550"/>
            <a:ext cx="1257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管线分类入口</a:t>
            </a:r>
            <a:endParaRPr sz="105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8401050" y="3114675"/>
            <a:ext cx="95250" cy="9525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 w="0">
            <a:solidFill>
              <a:srgbClr val="22C55E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8629650" y="3048000"/>
            <a:ext cx="2876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分类视图</a:t>
            </a:r>
            <a:endParaRPr sz="13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8629650" y="3286125"/>
            <a:ext cx="28765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给水、燃气、排水、电力、热力、通信、工业等分类入口已形成。</a:t>
            </a:r>
            <a:endParaRPr sz="105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8401050" y="38576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 w="0">
            <a:solidFill>
              <a:srgbClr val="22C55E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8629650" y="3790950"/>
            <a:ext cx="2876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工程字段齐全</a:t>
            </a:r>
            <a:endParaRPr sz="13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629650" y="4029075"/>
            <a:ext cx="28765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管点、连线、长度、材质、管径、压力、流向等关键字段进入表格。</a:t>
            </a:r>
            <a:endParaRPr sz="105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8401050" y="4600575"/>
            <a:ext cx="95250" cy="9525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 w="0">
            <a:solidFill>
              <a:srgbClr val="22C55E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8629650" y="4533900"/>
            <a:ext cx="2876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交付动作预留</a:t>
            </a:r>
            <a:endParaRPr sz="13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8629650" y="4772025"/>
            <a:ext cx="28765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新增、编辑、删除、搜索、导出数据等操作入口清晰。</a:t>
            </a:r>
            <a:endParaRPr sz="105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514350" y="38100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MODEL VIEW</a:t>
            </a:r>
            <a:endParaRPr sz="9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14350" y="62865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32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模型与空间可视化：为成果复核和领导查看提供直观视图</a:t>
            </a:r>
            <a:endParaRPr sz="2325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239500" y="6477000"/>
            <a:ext cx="4381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08</a:t>
            </a:r>
            <a:endParaRPr sz="105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1"/>
          <a:srcRect t="3333" b="3333"/>
          <a:stretch>
            <a:fillRect/>
          </a:stretch>
        </p:blipFill>
        <p:spPr>
          <a:xfrm>
            <a:off x="514350" y="1285875"/>
            <a:ext cx="7429500" cy="4333875"/>
          </a:xfrm>
          <a:prstGeom prst="roundRect">
            <a:avLst/>
          </a:prstGeom>
        </p:spPr>
      </p:pic>
      <p:sp>
        <p:nvSpPr>
          <p:cNvPr id="6" name="圆角矩形 5"/>
          <p:cNvSpPr>
            <a:spLocks noGrp="1"/>
          </p:cNvSpPr>
          <p:nvPr/>
        </p:nvSpPr>
        <p:spPr>
          <a:xfrm>
            <a:off x="8382000" y="15335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 w="0">
            <a:solidFill>
              <a:srgbClr val="22C55E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8610600" y="1466850"/>
            <a:ext cx="2914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模型筛选</a:t>
            </a:r>
            <a:endParaRPr sz="13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610600" y="1704975"/>
            <a:ext cx="29146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按管线分类筛选，支持搜索模型分类或管线对象。</a:t>
            </a:r>
            <a:endParaRPr sz="105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8382000" y="23336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 w="0">
            <a:solidFill>
              <a:srgbClr val="22C55E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8610600" y="2266950"/>
            <a:ext cx="2914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三维/真实视图</a:t>
            </a:r>
            <a:endParaRPr sz="13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610600" y="2505075"/>
            <a:ext cx="29146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页面已呈现三维模型视图、线框/真实切换、局部剖切和三维地形开关。</a:t>
            </a:r>
            <a:endParaRPr sz="105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8382000" y="31337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 w="0">
            <a:solidFill>
              <a:srgbClr val="22C55E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8610600" y="3067050"/>
            <a:ext cx="2914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成果联动承接</a:t>
            </a:r>
            <a:endParaRPr sz="13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8610600" y="3305175"/>
            <a:ext cx="29146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后续可与勘探成果、数据台账、报告截图共同形成空间复核证据。</a:t>
            </a:r>
            <a:endParaRPr sz="105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8382000" y="4495800"/>
            <a:ext cx="2978150" cy="1102360"/>
          </a:xfrm>
          <a:prstGeom prst="roundRect">
            <a:avLst>
              <a:gd name="adj" fmla="val 15385"/>
            </a:avLst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8591550" y="4686300"/>
            <a:ext cx="1047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7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价值判断</a:t>
            </a:r>
            <a:endParaRPr sz="1275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591550" y="497205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75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当前是可视化承接层，真实 GIS/三维服务接入仍需后端与模型服务确认。</a:t>
            </a:r>
            <a:endParaRPr sz="975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514350" y="38100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DELIVERY ENABLEMENT</a:t>
            </a:r>
            <a:endParaRPr sz="9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14350" y="62865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32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报告与知识中心：把成果输出和组织经验沉淀起来</a:t>
            </a:r>
            <a:endParaRPr sz="2325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239500" y="6477000"/>
            <a:ext cx="4381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09</a:t>
            </a:r>
            <a:endParaRPr sz="105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1"/>
          <a:srcRect l="2911" r="2911"/>
          <a:stretch>
            <a:fillRect/>
          </a:stretch>
        </p:blipFill>
        <p:spPr>
          <a:xfrm>
            <a:off x="514350" y="1314450"/>
            <a:ext cx="5238750" cy="3476625"/>
          </a:xfrm>
          <a:prstGeom prst="round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2"/>
          <a:srcRect l="2911" r="2911"/>
          <a:stretch>
            <a:fillRect/>
          </a:stretch>
        </p:blipFill>
        <p:spPr>
          <a:xfrm>
            <a:off x="6191250" y="1314450"/>
            <a:ext cx="5238750" cy="3476625"/>
          </a:xfrm>
          <a:prstGeom prst="roundRect">
            <a:avLst/>
          </a:prstGeom>
        </p:spPr>
      </p:pic>
      <p:sp>
        <p:nvSpPr>
          <p:cNvPr id="7" name="矩形 6"/>
          <p:cNvSpPr>
            <a:spLocks noGrp="1"/>
          </p:cNvSpPr>
          <p:nvPr/>
        </p:nvSpPr>
        <p:spPr>
          <a:xfrm>
            <a:off x="781050" y="504825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报告模块</a:t>
            </a:r>
            <a:endParaRPr sz="15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81050" y="5353050"/>
            <a:ext cx="4381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承接成果汇编、导出、审核与展示，后续需补齐模板、流程与权限。</a:t>
            </a:r>
            <a:endParaRPr sz="1125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457950" y="504825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知识中心</a:t>
            </a:r>
            <a:endParaRPr sz="15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457950" y="5353050"/>
            <a:ext cx="4381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已保留技术文档、操作指南、FAQ、视频教程、行业标准和案例库方向。</a:t>
            </a:r>
            <a:endParaRPr sz="1125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514350" y="38100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DEVICE GOVERNANCE</a:t>
            </a:r>
            <a:endParaRPr sz="9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14350" y="62865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32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系统级设备控制台：把设备资产、绑定关系和回传留痕管起来</a:t>
            </a:r>
            <a:endParaRPr sz="2325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239500" y="6477000"/>
            <a:ext cx="4381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endParaRPr sz="105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1"/>
          <a:srcRect t="5062" b="5062"/>
          <a:stretch>
            <a:fillRect/>
          </a:stretch>
        </p:blipFill>
        <p:spPr>
          <a:xfrm>
            <a:off x="514350" y="1295400"/>
            <a:ext cx="7715250" cy="4333875"/>
          </a:xfrm>
          <a:prstGeom prst="roundRect">
            <a:avLst/>
          </a:prstGeom>
        </p:spPr>
      </p:pic>
      <p:sp>
        <p:nvSpPr>
          <p:cNvPr id="6" name="圆角矩形 5"/>
          <p:cNvSpPr>
            <a:spLocks noGrp="1"/>
          </p:cNvSpPr>
          <p:nvPr/>
        </p:nvSpPr>
        <p:spPr>
          <a:xfrm>
            <a:off x="8572500" y="1466850"/>
            <a:ext cx="1619250" cy="1123950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9525">
            <a:solidFill>
              <a:srgbClr val="DCEFEA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8743950" y="1638300"/>
            <a:ext cx="1238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315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315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743950" y="2152650"/>
            <a:ext cx="1257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设备总数</a:t>
            </a:r>
            <a:endParaRPr sz="105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10344150" y="1466850"/>
            <a:ext cx="1619250" cy="1123950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9525">
            <a:solidFill>
              <a:srgbClr val="DCEFEA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10515600" y="1638300"/>
            <a:ext cx="1238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31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315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0515600" y="2152650"/>
            <a:ext cx="1257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有效绑定设备</a:t>
            </a:r>
            <a:endParaRPr sz="105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8591550" y="31337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 w="0">
            <a:solidFill>
              <a:srgbClr val="22C55E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8820150" y="3067050"/>
            <a:ext cx="2876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跨项目设备治理</a:t>
            </a:r>
            <a:endParaRPr sz="13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8820150" y="3305175"/>
            <a:ext cx="28765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系统级控制台管理设备接入、连接、绑定、换绑、解绑和移除。</a:t>
            </a:r>
            <a:endParaRPr sz="105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8591550" y="3876675"/>
            <a:ext cx="95250" cy="9525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 w="0">
            <a:solidFill>
              <a:srgbClr val="22C55E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8820150" y="3810000"/>
            <a:ext cx="2876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状态透明</a:t>
            </a:r>
            <a:endParaRPr sz="13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820150" y="4048125"/>
            <a:ext cx="28765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设备在线、任务状态、电量、最近心跳、最近回传和绑定项目一屏可见。</a:t>
            </a:r>
            <a:endParaRPr sz="105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8591550" y="46196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 w="0">
            <a:solidFill>
              <a:srgbClr val="22C55E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8820150" y="4552950"/>
            <a:ext cx="2876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审计追溯</a:t>
            </a:r>
            <a:endParaRPr sz="13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8820150" y="4791075"/>
            <a:ext cx="28765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绑定流水与回传记录保留 messageId、responseTo、Topic 等协议字段。</a:t>
            </a:r>
            <a:endParaRPr sz="105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514350" y="38100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VISIBLE BENEFITS</a:t>
            </a:r>
            <a:endParaRPr sz="9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14350" y="62865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32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可见效益：当前原型已经能支撑五类管理收益</a:t>
            </a:r>
            <a:endParaRPr sz="2325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239500" y="6477000"/>
            <a:ext cx="4381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</a:t>
            </a:r>
            <a:endParaRPr sz="105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742950" y="1466850"/>
            <a:ext cx="3143250" cy="13716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DE7EE"/>
            </a:solidFill>
            <a:prstDash val="solid"/>
          </a:ln>
        </p:spPr>
      </p:sp>
      <p:sp>
        <p:nvSpPr>
          <p:cNvPr id="7" name="圆角矩形 6"/>
          <p:cNvSpPr>
            <a:spLocks noGrp="1"/>
          </p:cNvSpPr>
          <p:nvPr/>
        </p:nvSpPr>
        <p:spPr>
          <a:xfrm>
            <a:off x="742950" y="1466850"/>
            <a:ext cx="76200" cy="13716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1009650" y="167640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72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管理透明</a:t>
            </a:r>
            <a:endParaRPr sz="1725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009650" y="2057400"/>
            <a:ext cx="2476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项目、业主、设备、人员与状态集中呈现，领导查看不再依赖多人汇总。</a:t>
            </a:r>
            <a:endParaRPr sz="12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4362450" y="1466850"/>
            <a:ext cx="3143250" cy="13716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DE7EE"/>
            </a:solidFill>
            <a:prstDash val="solid"/>
          </a:ln>
        </p:spPr>
      </p:sp>
      <p:sp>
        <p:nvSpPr>
          <p:cNvPr id="11" name="圆角矩形 10"/>
          <p:cNvSpPr>
            <a:spLocks noGrp="1"/>
          </p:cNvSpPr>
          <p:nvPr/>
        </p:nvSpPr>
        <p:spPr>
          <a:xfrm>
            <a:off x="4362450" y="1466850"/>
            <a:ext cx="76200" cy="137160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 w="0">
            <a:solidFill>
              <a:srgbClr val="22C55E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4629150" y="167640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72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作业提效</a:t>
            </a:r>
            <a:endParaRPr sz="1725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629150" y="2057400"/>
            <a:ext cx="2476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项目级控制台把规划、地图、视频、指令和回传放在同一操作流。</a:t>
            </a:r>
            <a:endParaRPr sz="12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7981950" y="1466850"/>
            <a:ext cx="3143250" cy="13716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DE7EE"/>
            </a:solidFill>
            <a:prstDash val="solid"/>
          </a:ln>
        </p:spPr>
      </p:sp>
      <p:sp>
        <p:nvSpPr>
          <p:cNvPr id="15" name="圆角矩形 14"/>
          <p:cNvSpPr>
            <a:spLocks noGrp="1"/>
          </p:cNvSpPr>
          <p:nvPr/>
        </p:nvSpPr>
        <p:spPr>
          <a:xfrm>
            <a:off x="7981950" y="1466850"/>
            <a:ext cx="76200" cy="13716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8248650" y="167640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72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数据沉淀</a:t>
            </a:r>
            <a:endParaRPr sz="1725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248650" y="2057400"/>
            <a:ext cx="2476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勘探成果进入可分类、可编辑、可导出的地下管线台账。</a:t>
            </a:r>
            <a:endParaRPr sz="12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742950" y="3276600"/>
            <a:ext cx="3143250" cy="13716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DE7EE"/>
            </a:solidFill>
            <a:prstDash val="solid"/>
          </a:ln>
        </p:spPr>
      </p:sp>
      <p:sp>
        <p:nvSpPr>
          <p:cNvPr id="19" name="圆角矩形 18"/>
          <p:cNvSpPr>
            <a:spLocks noGrp="1"/>
          </p:cNvSpPr>
          <p:nvPr/>
        </p:nvSpPr>
        <p:spPr>
          <a:xfrm>
            <a:off x="742950" y="3276600"/>
            <a:ext cx="76200" cy="13716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1009650" y="34861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72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交付规范</a:t>
            </a:r>
            <a:endParaRPr sz="1725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009650" y="3867150"/>
            <a:ext cx="2476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模型、报告、知识中心为成果复核、汇报输出和经验复用预留承接层。</a:t>
            </a:r>
            <a:endParaRPr sz="12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4362450" y="3276600"/>
            <a:ext cx="3143250" cy="13716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DE7EE"/>
            </a:solidFill>
            <a:prstDash val="solid"/>
          </a:ln>
        </p:spPr>
      </p:sp>
      <p:sp>
        <p:nvSpPr>
          <p:cNvPr id="23" name="圆角矩形 22"/>
          <p:cNvSpPr>
            <a:spLocks noGrp="1"/>
          </p:cNvSpPr>
          <p:nvPr/>
        </p:nvSpPr>
        <p:spPr>
          <a:xfrm>
            <a:off x="4362450" y="3276600"/>
            <a:ext cx="76200" cy="137160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0">
            <a:solidFill>
              <a:srgbClr val="DC2626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4629150" y="34861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72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风险可控</a:t>
            </a:r>
            <a:endParaRPr sz="1725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4629150" y="3867150"/>
            <a:ext cx="2476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设备绑定、换绑、解绑和回传留痕，减少跨项目设备状态不清。</a:t>
            </a:r>
            <a:endParaRPr sz="12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514350" y="381000"/>
            <a:ext cx="438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OPERATION MODES</a:t>
            </a:r>
            <a:endParaRPr sz="9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14350" y="62865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32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自动作业模式：探索、遍历、复检分别解决不同现场问题</a:t>
            </a:r>
            <a:endParaRPr sz="2325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239500" y="6477000"/>
            <a:ext cx="4381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en-US" sz="105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05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609600" y="1428750"/>
            <a:ext cx="3333750" cy="180975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DDE7EE"/>
            </a:solidFill>
            <a:prstDash val="solid"/>
          </a:ln>
        </p:spPr>
      </p:sp>
      <p:sp>
        <p:nvSpPr>
          <p:cNvPr id="7" name="圆角矩形 6"/>
          <p:cNvSpPr>
            <a:spLocks noGrp="1"/>
          </p:cNvSpPr>
          <p:nvPr/>
        </p:nvSpPr>
        <p:spPr>
          <a:xfrm>
            <a:off x="609600" y="1428750"/>
            <a:ext cx="76200" cy="18097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838200" y="1600200"/>
            <a:ext cx="2876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探索模式</a:t>
            </a:r>
            <a:endParaRPr sz="15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38200" y="1924050"/>
            <a:ext cx="287655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面向未知区域盲探，自主发现疑似管线；连续多帧命中后触发巡线，输出疑似管线路由和覆盖轨迹。</a:t>
            </a:r>
            <a:endParaRPr sz="105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4429125" y="1428750"/>
            <a:ext cx="3333750" cy="180975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DDE7EE"/>
            </a:solidFill>
            <a:prstDash val="solid"/>
          </a:ln>
        </p:spPr>
      </p:sp>
      <p:sp>
        <p:nvSpPr>
          <p:cNvPr id="11" name="圆角矩形 10"/>
          <p:cNvSpPr>
            <a:spLocks noGrp="1"/>
          </p:cNvSpPr>
          <p:nvPr/>
        </p:nvSpPr>
        <p:spPr>
          <a:xfrm>
            <a:off x="4429125" y="1428750"/>
            <a:ext cx="76200" cy="180975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 w="0">
            <a:solidFill>
              <a:srgbClr val="22C55E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4657725" y="1600200"/>
            <a:ext cx="2876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遍历模式</a:t>
            </a:r>
            <a:endParaRPr sz="15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657725" y="1924050"/>
            <a:ext cx="287655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面向道路、厂区、施工场地普查，按边界生成弓字形全覆盖路径，目标是覆盖完整、不漏扫。</a:t>
            </a:r>
            <a:endParaRPr sz="105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8248650" y="1428750"/>
            <a:ext cx="3333750" cy="180975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DDE7EE"/>
            </a:solidFill>
            <a:prstDash val="solid"/>
          </a:ln>
        </p:spPr>
      </p:sp>
      <p:sp>
        <p:nvSpPr>
          <p:cNvPr id="15" name="圆角矩形 14"/>
          <p:cNvSpPr>
            <a:spLocks noGrp="1"/>
          </p:cNvSpPr>
          <p:nvPr/>
        </p:nvSpPr>
        <p:spPr>
          <a:xfrm>
            <a:off x="8248650" y="1428750"/>
            <a:ext cx="76200" cy="18097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8477250" y="1600200"/>
            <a:ext cx="2876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复检模式</a:t>
            </a:r>
            <a:endParaRPr sz="15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477250" y="1924050"/>
            <a:ext cx="287655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面向历史成果、低置信数据和已确认管线，支持补扫、强化扫、精细扫，提升交付可信度。</a:t>
            </a:r>
            <a:endParaRPr sz="105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04850" y="3857625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任务生命周期</a:t>
            </a:r>
            <a:endParaRPr sz="19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742950" y="4476750"/>
            <a:ext cx="1066800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DDE7EE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876300" y="4629150"/>
            <a:ext cx="800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创建</a:t>
            </a:r>
            <a:endParaRPr sz="12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直接连接符 20"/>
          <p:cNvSpPr>
            <a:spLocks noGrp="1"/>
          </p:cNvSpPr>
          <p:nvPr/>
        </p:nvSpPr>
        <p:spPr>
          <a:xfrm>
            <a:off x="1847850" y="4733925"/>
            <a:ext cx="323850" cy="9525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2" name="圆角矩形 21"/>
          <p:cNvSpPr>
            <a:spLocks noGrp="1"/>
          </p:cNvSpPr>
          <p:nvPr/>
        </p:nvSpPr>
        <p:spPr>
          <a:xfrm>
            <a:off x="2266950" y="4476750"/>
            <a:ext cx="1066800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DDE7EE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2400300" y="4629150"/>
            <a:ext cx="800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待启动</a:t>
            </a:r>
            <a:endParaRPr sz="12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直接连接符 23"/>
          <p:cNvSpPr>
            <a:spLocks noGrp="1"/>
          </p:cNvSpPr>
          <p:nvPr/>
        </p:nvSpPr>
        <p:spPr>
          <a:xfrm>
            <a:off x="3371850" y="4733925"/>
            <a:ext cx="323850" cy="9525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5" name="圆角矩形 24"/>
          <p:cNvSpPr>
            <a:spLocks noGrp="1"/>
          </p:cNvSpPr>
          <p:nvPr/>
        </p:nvSpPr>
        <p:spPr>
          <a:xfrm>
            <a:off x="3790950" y="4476750"/>
            <a:ext cx="1066800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DDE7EE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3924300" y="4629150"/>
            <a:ext cx="800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执行中</a:t>
            </a:r>
            <a:endParaRPr sz="12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直接连接符 26"/>
          <p:cNvSpPr>
            <a:spLocks noGrp="1"/>
          </p:cNvSpPr>
          <p:nvPr/>
        </p:nvSpPr>
        <p:spPr>
          <a:xfrm>
            <a:off x="4895850" y="4733925"/>
            <a:ext cx="323850" cy="9525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8" name="圆角矩形 27"/>
          <p:cNvSpPr>
            <a:spLocks noGrp="1"/>
          </p:cNvSpPr>
          <p:nvPr/>
        </p:nvSpPr>
        <p:spPr>
          <a:xfrm>
            <a:off x="5314950" y="4476750"/>
            <a:ext cx="1066800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DDE7EE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5448300" y="4629150"/>
            <a:ext cx="800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暂停</a:t>
            </a:r>
            <a:endParaRPr sz="12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直接连接符 29"/>
          <p:cNvSpPr>
            <a:spLocks noGrp="1"/>
          </p:cNvSpPr>
          <p:nvPr/>
        </p:nvSpPr>
        <p:spPr>
          <a:xfrm>
            <a:off x="6419850" y="4733925"/>
            <a:ext cx="323850" cy="9525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1" name="圆角矩形 30"/>
          <p:cNvSpPr>
            <a:spLocks noGrp="1"/>
          </p:cNvSpPr>
          <p:nvPr/>
        </p:nvSpPr>
        <p:spPr>
          <a:xfrm>
            <a:off x="6838950" y="4476750"/>
            <a:ext cx="1066800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DDE7EE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6972300" y="4629150"/>
            <a:ext cx="800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恢复</a:t>
            </a:r>
            <a:endParaRPr sz="12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直接连接符 32"/>
          <p:cNvSpPr>
            <a:spLocks noGrp="1"/>
          </p:cNvSpPr>
          <p:nvPr/>
        </p:nvSpPr>
        <p:spPr>
          <a:xfrm>
            <a:off x="7943850" y="4733925"/>
            <a:ext cx="323850" cy="9525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4" name="圆角矩形 33"/>
          <p:cNvSpPr>
            <a:spLocks noGrp="1"/>
          </p:cNvSpPr>
          <p:nvPr/>
        </p:nvSpPr>
        <p:spPr>
          <a:xfrm>
            <a:off x="8362950" y="4476750"/>
            <a:ext cx="1066800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DDE7EE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8496300" y="4629150"/>
            <a:ext cx="800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终止</a:t>
            </a:r>
            <a:endParaRPr sz="12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直接连接符 35"/>
          <p:cNvSpPr>
            <a:spLocks noGrp="1"/>
          </p:cNvSpPr>
          <p:nvPr/>
        </p:nvSpPr>
        <p:spPr>
          <a:xfrm>
            <a:off x="9467850" y="4733925"/>
            <a:ext cx="323850" cy="9525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7" name="圆角矩形 36"/>
          <p:cNvSpPr>
            <a:spLocks noGrp="1"/>
          </p:cNvSpPr>
          <p:nvPr/>
        </p:nvSpPr>
        <p:spPr>
          <a:xfrm>
            <a:off x="9886950" y="4476750"/>
            <a:ext cx="1066800" cy="514350"/>
          </a:xfrm>
          <a:prstGeom prst="roundRect">
            <a:avLst>
              <a:gd name="adj" fmla="val 22222"/>
            </a:avLst>
          </a:prstGeom>
          <a:solidFill>
            <a:srgbClr val="ECFDF5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10020300" y="4629150"/>
            <a:ext cx="800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</a:t>
            </a:r>
            <a:endParaRPr sz="12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2028</Words>
  <Application>WPS 演示</Application>
  <PresentationFormat>Converted Presentation</PresentationFormat>
  <Paragraphs>292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9" baseType="lpstr">
      <vt:lpstr>Arial</vt:lpstr>
      <vt:lpstr>宋体</vt:lpstr>
      <vt:lpstr>Wingdings</vt:lpstr>
      <vt:lpstr>微软雅黑</vt:lpstr>
      <vt:lpstr>Arial Unicode MS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邢沛怡</cp:lastModifiedBy>
  <cp:revision>1</cp:revision>
  <dcterms:created xsi:type="dcterms:W3CDTF">2026-06-17T03:40:58Z</dcterms:created>
  <dcterms:modified xsi:type="dcterms:W3CDTF">2026-06-17T03:40:59Z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C008A27C17A648C7AB17B20B2CC7E825_12</vt:lpwstr>
  </property>
  <property fmtid="{D5CDD505-2E9C-101B-9397-08002B2CF9AE}" pid="3" name="KSOProductBuildVer">
    <vt:lpwstr>2052-12.1.0.26895</vt:lpwstr>
  </property>
</Properties>
</file>